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C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0972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8912B"/>
                </a:solidFill>
                <a:latin typeface="Calibri"/>
              </a:rPr>
              <a:t>CVPR 2025  ·  MEDICAL IMAGE SEGMENTATION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5544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2EFE8"/>
                </a:solidFill>
                <a:latin typeface="Calibri"/>
              </a:rPr>
              <a:t>VoxTell &amp; nnInteractive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1460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 i="0">
                <a:solidFill>
                  <a:srgbClr val="B0BCC8"/>
                </a:solidFill>
                <a:latin typeface="Calibri"/>
              </a:rPr>
              <a:t>Optimization on NVIDIA H100 MIG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200400"/>
            <a:ext cx="548640" cy="76200"/>
          </a:xfrm>
          <a:prstGeom prst="rect">
            <a:avLst/>
          </a:prstGeom>
          <a:solidFill>
            <a:srgbClr val="C891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3832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708090"/>
                </a:solidFill>
                <a:latin typeface="Calibri"/>
              </a:rPr>
              <a:t>torch.compile  ·  Embedding Cache  ·  Sliding Window  ·  Numba Preprocessing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0350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A6478"/>
                </a:solidFill>
                <a:latin typeface="Calibri"/>
              </a:rPr>
              <a:t>Brian Xiao  ·  rrg-jma  ·  Fir cluster (Alliance Canada)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093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A6478"/>
                </a:solidFill>
                <a:latin typeface="Calibri"/>
              </a:rPr>
              <a:t>Brian Xiao  ·  Aug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28600"/>
            <a:ext cx="54864" cy="508000"/>
          </a:xfrm>
          <a:prstGeom prst="rect">
            <a:avLst/>
          </a:prstGeom>
          <a:solidFill>
            <a:srgbClr val="C891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371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F1C2E"/>
                </a:solidFill>
                <a:latin typeface="Calibri"/>
              </a:rPr>
              <a:t>What is Medical Image Segmentation?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137160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A6478"/>
                </a:solidFill>
                <a:latin typeface="Calibri"/>
              </a:rPr>
              <a:t>02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2296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8912B"/>
                </a:solidFill>
                <a:latin typeface="Calibri"/>
              </a:rPr>
              <a:t>The Problem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188720"/>
            <a:ext cx="5029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F1C2E"/>
                </a:solidFill>
                <a:latin typeface="Calibri"/>
              </a:rPr>
              <a:t>A CT or MRI scan is a 3-D volume of voxels. A segmentation model draws a precise 3-D boundary around each organ or lesion — producing a binary mask the radiologist or downstream algorithm can act 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28600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D7A72"/>
                </a:solidFill>
                <a:latin typeface="Calibri"/>
              </a:rPr>
              <a:t>Accuracy Metric — DSC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651760"/>
            <a:ext cx="5029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F1C2E"/>
                </a:solidFill>
                <a:latin typeface="Calibri"/>
              </a:rPr>
              <a:t>Dice Similarity Coefficient (DSC) = 2|A∩B| / (|A|+|B|)
  0 = no overlap     1 = perfect
  &gt; 0.70 = clinically acceptable
  Our results: ~0.79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11480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8912B"/>
                </a:solidFill>
                <a:latin typeface="Calibri"/>
              </a:rPr>
              <a:t>Why Speed Matters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480560"/>
            <a:ext cx="5029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F1C2E"/>
                </a:solidFill>
                <a:latin typeface="Calibri"/>
              </a:rPr>
              <a:t>A hospital CT pipeline may process hundreds of cases per day. Each case has 10–20 objects to segment. Every millisecond saved per object compounds across the full workload.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82296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D7A72"/>
                </a:solidFill>
                <a:latin typeface="Calibri"/>
              </a:rPr>
              <a:t>The Two Models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0" y="1234440"/>
            <a:ext cx="5303520" cy="1737360"/>
          </a:xfrm>
          <a:prstGeom prst="rect">
            <a:avLst/>
          </a:prstGeom>
          <a:solidFill>
            <a:srgbClr val="F0E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0" y="132588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C8912B"/>
                </a:solidFill>
                <a:latin typeface="Calibri"/>
              </a:rPr>
              <a:t>VoxTell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1691640"/>
            <a:ext cx="4114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C2E"/>
                </a:solidFill>
                <a:latin typeface="Calibri"/>
              </a:rPr>
              <a:t>Lab's CVPR submission
Text-prompt segmentation (Qwen3 LLM)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233172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8912B"/>
                </a:solidFill>
                <a:latin typeface="Calibri"/>
              </a:rPr>
              <a:t>2.27s → 0.55s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0" y="3337560"/>
            <a:ext cx="5303520" cy="1737360"/>
          </a:xfrm>
          <a:prstGeom prst="rect">
            <a:avLst/>
          </a:prstGeom>
          <a:solidFill>
            <a:srgbClr val="F0E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0" y="34290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D7A72"/>
                </a:solidFill>
                <a:latin typeface="Calibri"/>
              </a:rPr>
              <a:t>nnInteractive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3794760"/>
            <a:ext cx="4114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C2E"/>
                </a:solidFill>
                <a:latin typeface="Calibri"/>
              </a:rPr>
              <a:t>CVPR 2025 challenge baseline
Bbox-prompt interactive segmentation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0" y="443484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D7A72"/>
                </a:solidFill>
                <a:latin typeface="Calibri"/>
              </a:rPr>
              <a:t>0.288s → 0.215s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28600"/>
            <a:ext cx="54864" cy="508000"/>
          </a:xfrm>
          <a:prstGeom prst="rect">
            <a:avLst/>
          </a:prstGeom>
          <a:solidFill>
            <a:srgbClr val="C891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371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F1C2E"/>
                </a:solidFill>
                <a:latin typeface="Calibri"/>
              </a:rPr>
              <a:t>VoxTell — Baseline &amp; The Bug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137160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A6478"/>
                </a:solidFill>
                <a:latin typeface="Calibri"/>
              </a:rPr>
              <a:t>03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2296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A6478"/>
                </a:solidFill>
                <a:latin typeface="Calibri"/>
              </a:rPr>
              <a:t>Hardware: NVIDIA GeForce RTX 4070 SUPER (12 GB GDDR6X)  ·  v0_gpu: Qwen3-4B + nnUNet 3D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188720"/>
          <a:ext cx="77724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90800"/>
                <a:gridCol w="2590800"/>
                <a:gridCol w="2590800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Phase</a:t>
                      </a:r>
                    </a:p>
                  </a:txBody>
                  <a:tcPr>
                    <a:solidFill>
                      <a:srgbClr val="0F1C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Latency (v0_gpu, RTX 4070 SUPER)</a:t>
                      </a:r>
                    </a:p>
                  </a:txBody>
                  <a:tcPr>
                    <a:solidFill>
                      <a:srgbClr val="0F1C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Notes</a:t>
                      </a:r>
                    </a:p>
                  </a:txBody>
                  <a:tcPr>
                    <a:solidFill>
                      <a:srgbClr val="0F1C2E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C8912B"/>
                          </a:solidFill>
                          <a:latin typeface="Calibri"/>
                        </a:rPr>
                        <a:t>Text encoding — BUG: Qwen3-4B silently on CPU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latin typeface="Calibri"/>
                        </a:rPr>
                        <a:t>~2.7s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5A6478"/>
                          </a:solidFill>
                          <a:latin typeface="Calibri"/>
                        </a:rPr>
                        <a:t>FP32 overflows 12 GB VRAM → CPU fallback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latin typeface="Calibri"/>
                        </a:rPr>
                        <a:t>Image preprocessing (numpy)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latin typeface="Calibri"/>
                        </a:rPr>
                        <a:t>~0.23s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5A6478"/>
                          </a:solidFill>
                          <a:latin typeface="Calibri"/>
                        </a:rPr>
                        <a:t>Crop, z-score normalize, patch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latin typeface="Calibri"/>
                        </a:rPr>
                        <a:t>Sliding window inference (GPU, warm)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latin typeface="Calibri"/>
                        </a:rPr>
                        <a:t>~0.17s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5A6478"/>
                          </a:solidFill>
                          <a:latin typeface="Calibri"/>
                        </a:rPr>
                        <a:t>tile_step=0.5, ~343 patches, FP16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31546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8912B"/>
                </a:solidFill>
                <a:latin typeface="Calibri"/>
              </a:rPr>
              <a:t>Total: ~3.10s per prompt  —  dominated by text encoder running on CPU (silent bug)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611880"/>
            <a:ext cx="4572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8912B"/>
                </a:solidFill>
                <a:latin typeface="Calibri"/>
              </a:rPr>
              <a:t>Root cause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931920"/>
            <a:ext cx="5943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C2E"/>
                </a:solidFill>
                <a:latin typeface="Calibri"/>
              </a:rPr>
              <a:t>Qwen3-4B in FP32 requires ~16 GB VRAM. RTX 4070 SUPER has 12 GB. PyTorch silently falls back to CPU when VRAM is insufficient. Fix: load with dtype=torch.float16 → 8 GB VRAM, stays on GPU.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937760"/>
            <a:ext cx="1828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D7A72"/>
                </a:solidFill>
                <a:latin typeface="Calibri"/>
              </a:rPr>
              <a:t>After fix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25780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C2E"/>
                </a:solidFill>
                <a:latin typeface="Calibri"/>
              </a:rPr>
              <a:t>Text: 2.7s → 0.02s warm cache  |  Total (no cache): 3.10s → 2.38s on same hardware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61120" y="3566160"/>
            <a:ext cx="27432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C8912B"/>
                </a:solidFill>
                <a:latin typeface="Calibri"/>
              </a:rPr>
              <a:t>3.10s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0" y="434340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A6478"/>
                </a:solidFill>
                <a:latin typeface="Calibri"/>
              </a:rPr>
              <a:t>RTX 4070 SUPER baseline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28600"/>
            <a:ext cx="54864" cy="508000"/>
          </a:xfrm>
          <a:prstGeom prst="rect">
            <a:avLst/>
          </a:prstGeom>
          <a:solidFill>
            <a:srgbClr val="C891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371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F1C2E"/>
                </a:solidFill>
                <a:latin typeface="Calibri"/>
              </a:rPr>
              <a:t>VoxTell — Bug Fix + Three Algorithmic Optimizations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137160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A6478"/>
                </a:solidFill>
                <a:latin typeface="Calibri"/>
              </a:rPr>
              <a:t>04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49808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A6478"/>
                </a:solidFill>
                <a:latin typeface="Calibri"/>
              </a:rPr>
              <a:t>All measurements on NVIDIA GeForce RTX 4070 SUPER (12 GB)  ·  DSC from experiment_log.md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097280"/>
          <a:ext cx="1124712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/>
                <a:gridCol w="2811780"/>
                <a:gridCol w="2811780"/>
                <a:gridCol w="2811780"/>
              </a:tblGrid>
              <a:tr h="5334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Change</a:t>
                      </a:r>
                    </a:p>
                  </a:txBody>
                  <a:tcPr>
                    <a:solidFill>
                      <a:srgbClr val="0F1C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Method</a:t>
                      </a:r>
                    </a:p>
                  </a:txBody>
                  <a:tcPr>
                    <a:solidFill>
                      <a:srgbClr val="0F1C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Speedup</a:t>
                      </a:r>
                    </a:p>
                  </a:txBody>
                  <a:tcPr>
                    <a:solidFill>
                      <a:srgbClr val="0F1C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DSC change</a:t>
                      </a:r>
                    </a:p>
                  </a:txBody>
                  <a:tcPr>
                    <a:solidFill>
                      <a:srgbClr val="0F1C2E"/>
                    </a:solidFill>
                  </a:tcPr>
                </a:tc>
              </a:tr>
              <a:tr h="5334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latin typeface="Calibri"/>
                        </a:rPr>
                        <a:t>BUG FIX: FP16 GPU placement</a:t>
                      </a:r>
                    </a:p>
                  </a:txBody>
                  <a:tcPr>
                    <a:solidFill>
                      <a:srgbClr val="FFF3E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latin typeface="Calibri"/>
                        </a:rPr>
                        <a:t>dtype=torch.float16 on Qwen3 → keeps encoder on GPU</a:t>
                      </a:r>
                    </a:p>
                  </a:txBody>
                  <a:tcPr>
                    <a:solidFill>
                      <a:srgbClr val="FFF3E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C8912B"/>
                          </a:solidFill>
                          <a:latin typeface="Calibri"/>
                        </a:rPr>
                        <a:t>46.7× text encoding</a:t>
                      </a:r>
                    </a:p>
                  </a:txBody>
                  <a:tcPr>
                    <a:solidFill>
                      <a:srgbClr val="FFF3E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A6A30"/>
                          </a:solidFill>
                          <a:latin typeface="Calibri"/>
                        </a:rPr>
                        <a:t>&lt; 0.001</a:t>
                      </a:r>
                    </a:p>
                  </a:txBody>
                  <a:tcPr>
                    <a:solidFill>
                      <a:srgbClr val="FFF3E0"/>
                    </a:solidFill>
                  </a:tcPr>
                </a:tc>
              </a:tr>
              <a:tr h="5334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latin typeface="Calibri"/>
                        </a:rPr>
                        <a:t>Sliding window overlap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latin typeface="Calibri"/>
                        </a:rPr>
                        <a:t>tile_step 0.5 → 0.75  (343 → 125 patches)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D7A72"/>
                          </a:solidFill>
                          <a:latin typeface="Calibri"/>
                        </a:rPr>
                        <a:t>3.6× sliding window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A6A30"/>
                          </a:solidFill>
                          <a:latin typeface="Calibri"/>
                        </a:rPr>
                        <a:t>+0.0006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</a:tr>
              <a:tr h="5334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latin typeface="Calibri"/>
                        </a:rPr>
                        <a:t>Embedding cache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latin typeface="Calibri"/>
                        </a:rPr>
                        <a:t>LRU memory + SHA-256 disk cache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D7A72"/>
                          </a:solidFill>
                          <a:latin typeface="Calibri"/>
                        </a:rPr>
                        <a:t>18.7× warm re-query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A6A30"/>
                          </a:solidFill>
                          <a:latin typeface="Calibri"/>
                        </a:rPr>
                        <a:t>Identical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334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latin typeface="Calibri"/>
                        </a:rPr>
                        <a:t>Numba preprocessing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latin typeface="Calibri"/>
                        </a:rPr>
                        <a:t>@njit(parallel=True) crop + z-score normalize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D7A72"/>
                          </a:solidFill>
                          <a:latin typeface="Calibri"/>
                        </a:rPr>
                        <a:t>1.4× preprocessing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A6A30"/>
                          </a:solidFill>
                          <a:latin typeface="Calibri"/>
                        </a:rPr>
                        <a:t>Unchanged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</a:tr>
              <a:tr h="5334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latin typeface="Calibri"/>
                        </a:rPr>
                        <a:t>INT4 (NF4) quantization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latin typeface="Calibri"/>
                        </a:rPr>
                        <a:t>bitsandbytes NF4 on Qwen3: ~2GB vs ~8GB FP16 VRAM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D7A72"/>
                          </a:solidFill>
                          <a:latin typeface="Calibri"/>
                        </a:rPr>
                        <a:t>4× text (H100)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A6A30"/>
                          </a:solidFill>
                          <a:latin typeface="Calibri"/>
                        </a:rPr>
                        <a:t>Unverified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4480560"/>
            <a:ext cx="3657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8912B"/>
                </a:solidFill>
                <a:latin typeface="Calibri"/>
              </a:rPr>
              <a:t>Fair GPU-vs-GPU results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80060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C2E"/>
                </a:solidFill>
                <a:latin typeface="Calibri"/>
              </a:rPr>
              <a:t>RTX 4070 SUPER (fair_benchmark_results.txt):  v0_gpu 3.10s → v3 2.38s  =  1.3× algorithmic gain
H100 MIG 3g.40gb (job 56948503):  v0_gpu 13.61s → v3 0.77s  =  17.6× full-stack gain (incl. INT4)
Bug fix excluded from fair comparison — FP16 GPU placement was a latent defect, not an optimization.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28600"/>
            <a:ext cx="54864" cy="508000"/>
          </a:xfrm>
          <a:prstGeom prst="rect">
            <a:avLst/>
          </a:prstGeom>
          <a:solidFill>
            <a:srgbClr val="C891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371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F1C2E"/>
                </a:solidFill>
                <a:latin typeface="Calibri"/>
              </a:rPr>
              <a:t>VoxTell — Accuracy Verification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137160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A6478"/>
                </a:solidFill>
                <a:latin typeface="Calibri"/>
              </a:rPr>
              <a:t>05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229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5A6478"/>
                </a:solidFill>
                <a:latin typeface="Calibri"/>
              </a:rPr>
              <a:t>All optimizations preserve segmentation quality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280160"/>
          <a:ext cx="822960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Setting</a:t>
                      </a:r>
                    </a:p>
                  </a:txBody>
                  <a:tcPr>
                    <a:solidFill>
                      <a:srgbClr val="0F1C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Mean DSC</a:t>
                      </a:r>
                    </a:p>
                  </a:txBody>
                  <a:tcPr>
                    <a:solidFill>
                      <a:srgbClr val="0F1C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vs Baseline</a:t>
                      </a:r>
                    </a:p>
                  </a:txBody>
                  <a:tcPr>
                    <a:solidFill>
                      <a:srgbClr val="0F1C2E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Baseline v0_gpu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0.7794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+ FP16 GPU placement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0.7795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6A30"/>
                          </a:solidFill>
                          <a:latin typeface="Calibri"/>
                        </a:rPr>
                        <a:t>&lt; 0.001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+ Sliding window (0.75)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0.7800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6A30"/>
                          </a:solidFill>
                          <a:latin typeface="Calibri"/>
                        </a:rPr>
                        <a:t>+0.0006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+ Embedding cache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0.7800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Identical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8961120" y="1280160"/>
            <a:ext cx="2743200" cy="2560320"/>
          </a:xfrm>
          <a:prstGeom prst="rect">
            <a:avLst/>
          </a:prstGeom>
          <a:solidFill>
            <a:srgbClr val="E8F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0" y="146304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1D7A72"/>
                </a:solidFill>
                <a:latin typeface="Calibri"/>
              </a:rPr>
              <a:t>DSC Change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0" y="1874519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1D7A72"/>
                </a:solidFill>
                <a:latin typeface="Calibri"/>
              </a:rPr>
              <a:t>&lt; 0.001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0" y="260604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D7A72"/>
                </a:solidFill>
                <a:latin typeface="Calibri"/>
              </a:rPr>
              <a:t>ACCURACY MAINTAINED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0" y="292608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A6478"/>
                </a:solidFill>
                <a:latin typeface="Calibri"/>
              </a:rPr>
              <a:t>Below 0.005 threshold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41148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A6478"/>
                </a:solidFill>
                <a:latin typeface="Calibri"/>
              </a:rPr>
              <a:t>Threshold: any DSC change &lt; 0.005 is within measurement noise for FP16 non-associativity.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28600"/>
            <a:ext cx="54864" cy="508000"/>
          </a:xfrm>
          <a:prstGeom prst="rect">
            <a:avLst/>
          </a:prstGeom>
          <a:solidFill>
            <a:srgbClr val="1D7A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371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F1C2E"/>
                </a:solidFill>
                <a:latin typeface="Calibri"/>
              </a:rPr>
              <a:t>nnInteractive — What It 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137160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A6478"/>
                </a:solidFill>
                <a:latin typeface="Calibri"/>
              </a:rPr>
              <a:t>06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2296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A6478"/>
                </a:solidFill>
                <a:latin typeface="Calibri"/>
              </a:rPr>
              <a:t>CVPR 2025 challenge baseline model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188720"/>
            <a:ext cx="36576" cy="762000"/>
          </a:xfrm>
          <a:prstGeom prst="rect">
            <a:avLst/>
          </a:prstGeom>
          <a:solidFill>
            <a:srgbClr val="1D7A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23444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D7A72"/>
                </a:solidFill>
                <a:latin typeface="Calibri"/>
              </a:rPr>
              <a:t>Bbox prompting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600200"/>
            <a:ext cx="5029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C2E"/>
                </a:solidFill>
                <a:latin typeface="Calibri"/>
              </a:rPr>
              <a:t>User provides a 3-D bounding box around the target object. nnInteractive predicts the segmentation mask inside that box. No text encoder — direct geometric prompt.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697480"/>
            <a:ext cx="36576" cy="762000"/>
          </a:xfrm>
          <a:prstGeom prst="rect">
            <a:avLst/>
          </a:prstGeom>
          <a:solidFill>
            <a:srgbClr val="1D7A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74320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D7A72"/>
                </a:solidFill>
                <a:latin typeface="Calibri"/>
              </a:rPr>
              <a:t>autozoom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108960"/>
            <a:ext cx="5029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C2E"/>
                </a:solidFill>
                <a:latin typeface="Calibri"/>
              </a:rPr>
              <a:t>Iterative refinement at multiple scales. If the initial prediction is confident, it exits early ("No zoom out necessary"). On this CVPR validation set, autozoom never fired — overhead is approximately zero.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4206240"/>
            <a:ext cx="36576" cy="762000"/>
          </a:xfrm>
          <a:prstGeom prst="rect">
            <a:avLst/>
          </a:prstGeom>
          <a:solidFill>
            <a:srgbClr val="C891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4251959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8912B"/>
                </a:solidFill>
                <a:latin typeface="Calibri"/>
              </a:rPr>
              <a:t>fold='all' checkpoint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617720"/>
            <a:ext cx="5029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C2E"/>
                </a:solidFill>
                <a:latin typeface="Calibri"/>
              </a:rPr>
              <a:t>The official CVPR 2025 checkpoint (DSC ~0.79). fold=0 gives ~0.33 DSC — undertrained weights; never compare against it.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82296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D7A72"/>
                </a:solidFill>
                <a:latin typeface="Calibri"/>
              </a:rPr>
              <a:t>Why nnInteractive is faster than VoxTell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0" y="1234440"/>
            <a:ext cx="52120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C2E"/>
                </a:solidFill>
                <a:latin typeface="Calibri"/>
              </a:rPr>
              <a:t>VoxTell accepts free-text prompts ("brain", "left kidney") — each requires a Qwen3-4B text encoder forward pass even with FP16 on GPU.
nnInteractive accepts a 3-D bounding box directly — no text encoder, the encoder cost is zero. Geometric prompts are sufficient for the CVPR challenge format.
A direct per-prompt latency comparison requires both models on the same hardware. VoxTell H100 fair benchmark (job 56948503): v0_gpu 13.61s → v3 0.77s = 17.6× full-stack gain.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28600"/>
            <a:ext cx="54864" cy="508000"/>
          </a:xfrm>
          <a:prstGeom prst="rect">
            <a:avLst/>
          </a:prstGeom>
          <a:solidFill>
            <a:srgbClr val="1D7A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371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F1C2E"/>
                </a:solidFill>
                <a:latin typeface="Calibri"/>
              </a:rPr>
              <a:t>nnInteractive — Baseline Profiling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137160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A6478"/>
                </a:solidFill>
                <a:latin typeface="Calibri"/>
              </a:rPr>
              <a:t>07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2296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A6478"/>
                </a:solidFill>
                <a:latin typeface="Calibri"/>
              </a:rPr>
              <a:t>fold='all', do_autozoom=True, torch_n_threads=os.cpu_count(), H100 MIG 3g.40gb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188720"/>
          <a:ext cx="685800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286000"/>
                <a:gridCol w="2286000"/>
              </a:tblGrid>
              <a:tr h="48006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Phase</a:t>
                      </a:r>
                    </a:p>
                  </a:txBody>
                  <a:tcPr>
                    <a:solidFill>
                      <a:srgbClr val="0F1C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Latency</a:t>
                      </a:r>
                    </a:p>
                  </a:txBody>
                  <a:tcPr>
                    <a:solidFill>
                      <a:srgbClr val="0F1C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Frequency</a:t>
                      </a:r>
                    </a:p>
                  </a:txBody>
                  <a:tcPr>
                    <a:solidFill>
                      <a:srgbClr val="0F1C2E"/>
                    </a:solidFill>
                  </a:tcPr>
                </a:tc>
              </a:tr>
              <a:tr h="48006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set_image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0.345s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5A6478"/>
                          </a:solidFill>
                          <a:latin typeface="Calibri"/>
                        </a:rPr>
                        <a:t>Once per case — image encoding + preprocessing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</a:tr>
              <a:tr h="48006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_predict (cold, first call)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~2.4s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5A6478"/>
                          </a:solidFill>
                          <a:latin typeface="Calibri"/>
                        </a:rPr>
                        <a:t>CUDA kernel JIT — one-time per session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8006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_predict (warm)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D7A72"/>
                          </a:solidFill>
                          <a:latin typeface="Calibri"/>
                        </a:rPr>
                        <a:t>0.288s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5A6478"/>
                          </a:solidFill>
                          <a:latin typeface="Calibri"/>
                        </a:rPr>
                        <a:t>Per object ← optimization target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324612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F1C2E"/>
                </a:solidFill>
                <a:latin typeface="Calibri"/>
              </a:rPr>
              <a:t>A 15-object case: 0.345s set_image + 15 × 0.288s = 4.66s total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65760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A6478"/>
                </a:solidFill>
                <a:latin typeface="Calibri"/>
              </a:rPr>
              <a:t>_predict warm is the bottleneck — set_image is &lt; 8% of case time.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0" y="292608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1D7A72"/>
                </a:solidFill>
                <a:latin typeface="Calibri"/>
              </a:rPr>
              <a:t>0.288s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38160" y="370332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A6478"/>
                </a:solidFill>
                <a:latin typeface="Calibri"/>
              </a:rPr>
              <a:t>per object (warm baseline)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28600"/>
            <a:ext cx="54864" cy="508000"/>
          </a:xfrm>
          <a:prstGeom prst="rect">
            <a:avLst/>
          </a:prstGeom>
          <a:solidFill>
            <a:srgbClr val="1D7A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371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F1C2E"/>
                </a:solidFill>
                <a:latin typeface="Calibri"/>
              </a:rPr>
              <a:t>nnInteractive — torch.compile Optimization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137160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A6478"/>
                </a:solidFill>
                <a:latin typeface="Calibri"/>
              </a:rPr>
              <a:t>08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2296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D7A72"/>
                </a:solidFill>
                <a:latin typeface="Calibri"/>
              </a:rPr>
              <a:t>Implementation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143000"/>
            <a:ext cx="5303520" cy="777240"/>
          </a:xfrm>
          <a:prstGeom prst="rect">
            <a:avLst/>
          </a:prstGeom>
          <a:solidFill>
            <a:srgbClr val="0F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188720"/>
            <a:ext cx="5029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7DC4BC"/>
                </a:solidFill>
                <a:latin typeface="Calibri"/>
              </a:rPr>
              <a:t># One line after session initialization
session.network = torch.compile(
    session.network, mode='reduce-overhead'
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0312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8912B"/>
                </a:solidFill>
                <a:latin typeface="Calibri"/>
              </a:rPr>
              <a:t>How it works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468880"/>
            <a:ext cx="5486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C2E"/>
                </a:solidFill>
                <a:latin typeface="Calibri"/>
              </a:rPr>
              <a:t>PyTorch normally interprets the model graph in Python on every forward pass. torch.compile traces the graph and emits optimized Triton GPU kernels via the inductor backend. With mode='reduce-overhead', CUDA graphs eliminate CPU→GPU launch latency on repeated calls with identical input shapes — exactly the nnInteractive inference pattern.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82296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D7A72"/>
                </a:solidFill>
                <a:latin typeface="Calibri"/>
              </a:rPr>
              <a:t>Key requirements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1234440"/>
            <a:ext cx="36576" cy="635000"/>
          </a:xfrm>
          <a:prstGeom prst="rect">
            <a:avLst/>
          </a:prstGeom>
          <a:solidFill>
            <a:srgbClr val="1D7A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0" y="1271016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D7A72"/>
                </a:solidFill>
                <a:latin typeface="Calibri"/>
              </a:rPr>
              <a:t>N_WARMUP =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1645920"/>
            <a:ext cx="53035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F1C2E"/>
                </a:solidFill>
                <a:latin typeface="Calibri"/>
              </a:rPr>
              <a:t>Warmup 1 triggers Triton compilation (~24s). Warmup 2 stabilizes dispatch (~0.51s). Runs 3+ are fully warm. With N_WARMUP=1, compiled latency reads ~0.54s and speedup ≈ 1.0×.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0" y="2697480"/>
            <a:ext cx="36576" cy="635000"/>
          </a:xfrm>
          <a:prstGeom prst="rect">
            <a:avLst/>
          </a:prstGeom>
          <a:solidFill>
            <a:srgbClr val="1D7A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0" y="2734056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D7A72"/>
                </a:solidFill>
                <a:latin typeface="Calibri"/>
              </a:rPr>
              <a:t>Env vars before import torch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0" y="3108960"/>
            <a:ext cx="53035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F1C2E"/>
                </a:solidFill>
                <a:latin typeface="Calibri"/>
              </a:rPr>
              <a:t>TORCHINDUCTOR_CACHE_DIR is read at import time, not at compile time. Set XDG_CACHE_HOME, TORCH_HOME, and TORCHINDUCTOR_CACHE_DIR before any torch import.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0" y="4160520"/>
            <a:ext cx="36576" cy="635000"/>
          </a:xfrm>
          <a:prstGeom prst="rect">
            <a:avLst/>
          </a:prstGeom>
          <a:solidFill>
            <a:srgbClr val="1D7A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0" y="4197096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D7A72"/>
                </a:solidFill>
                <a:latin typeface="Calibri"/>
              </a:rPr>
              <a:t>fold='all' required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0" y="4572000"/>
            <a:ext cx="53035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F1C2E"/>
                </a:solidFill>
                <a:latin typeface="Calibri"/>
              </a:rPr>
              <a:t>The official checkpoint (DSC ~0.79). fold=0 gives ~0.33 DSC — not a valid comparison baseline.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28600"/>
            <a:ext cx="54864" cy="508000"/>
          </a:xfrm>
          <a:prstGeom prst="rect">
            <a:avLst/>
          </a:prstGeom>
          <a:solidFill>
            <a:srgbClr val="1D7A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371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F1C2E"/>
                </a:solidFill>
                <a:latin typeface="Calibri"/>
              </a:rPr>
              <a:t>nnInteractive — Speedup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137160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A6478"/>
                </a:solidFill>
                <a:latin typeface="Calibri"/>
              </a:rPr>
              <a:t>09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2296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A6478"/>
                </a:solidFill>
                <a:latin typeface="Calibri"/>
              </a:rPr>
              <a:t>Jobs 56923894–896 (n=3 repeats) + 56908464 · fold='all', autozoom=ON · 20 CT cases · 294 objects · H100 MIG 3g.40gb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34440"/>
            <a:ext cx="26517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1D7A72"/>
                </a:solidFill>
                <a:latin typeface="Calibri"/>
              </a:rPr>
              <a:t>1.33×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011680"/>
            <a:ext cx="2651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A6478"/>
                </a:solidFill>
                <a:latin typeface="Calibri"/>
              </a:rPr>
              <a:t>per-object speedup
(n=3: 1.28–1.39×)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234440"/>
            <a:ext cx="26517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5A6478"/>
                </a:solidFill>
                <a:latin typeface="Calibri"/>
              </a:rPr>
              <a:t>0.288s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0" y="2011680"/>
            <a:ext cx="2651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A6478"/>
                </a:solidFill>
                <a:latin typeface="Calibri"/>
              </a:rPr>
              <a:t>baseline _predict
(no compile)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0" y="1234440"/>
            <a:ext cx="26517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1D7A72"/>
                </a:solidFill>
                <a:latin typeface="Calibri"/>
              </a:rPr>
              <a:t>0.215s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2011680"/>
            <a:ext cx="2651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A6478"/>
                </a:solidFill>
                <a:latin typeface="Calibri"/>
              </a:rPr>
              <a:t>compiled _predict
(fully warm)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0" y="1234440"/>
            <a:ext cx="26517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1D7A72"/>
                </a:solidFill>
                <a:latin typeface="Calibri"/>
              </a:rPr>
              <a:t>1.33×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0" y="2011680"/>
            <a:ext cx="2651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A6478"/>
                </a:solidFill>
                <a:latin typeface="Calibri"/>
              </a:rPr>
              <a:t>case-level speedup
(~15-object case)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457200" y="2743200"/>
          <a:ext cx="1124712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9424"/>
                <a:gridCol w="2249424"/>
                <a:gridCol w="2249424"/>
                <a:gridCol w="2249424"/>
                <a:gridCol w="2249424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Setting</a:t>
                      </a:r>
                    </a:p>
                  </a:txBody>
                  <a:tcPr>
                    <a:solidFill>
                      <a:srgbClr val="0F1C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set_image</a:t>
                      </a:r>
                    </a:p>
                  </a:txBody>
                  <a:tcPr>
                    <a:solidFill>
                      <a:srgbClr val="0F1C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_predict (warm)</a:t>
                      </a:r>
                    </a:p>
                  </a:txBody>
                  <a:tcPr>
                    <a:solidFill>
                      <a:srgbClr val="0F1C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~15-obj case</a:t>
                      </a:r>
                    </a:p>
                  </a:txBody>
                  <a:tcPr>
                    <a:solidFill>
                      <a:srgbClr val="0F1C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vs Baseline</a:t>
                      </a:r>
                    </a:p>
                  </a:txBody>
                  <a:tcPr>
                    <a:solidFill>
                      <a:srgbClr val="0F1C2E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Baseline (fold='all', autozoom=ON)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0.345s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0.288s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4.38s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1.0×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torch.compile (fold='all', autozoom=ON)</a:t>
                      </a:r>
                    </a:p>
                  </a:txBody>
                  <a:tcPr>
                    <a:solidFill>
                      <a:srgbClr val="E0F2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0.345s</a:t>
                      </a:r>
                    </a:p>
                  </a:txBody>
                  <a:tcPr>
                    <a:solidFill>
                      <a:srgbClr val="E0F2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D7A72"/>
                          </a:solidFill>
                          <a:latin typeface="Calibri"/>
                        </a:rPr>
                        <a:t>0.215s</a:t>
                      </a:r>
                    </a:p>
                  </a:txBody>
                  <a:tcPr>
                    <a:solidFill>
                      <a:srgbClr val="E0F2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D7A72"/>
                          </a:solidFill>
                          <a:latin typeface="Calibri"/>
                        </a:rPr>
                        <a:t>3.30s</a:t>
                      </a:r>
                    </a:p>
                  </a:txBody>
                  <a:tcPr>
                    <a:solidFill>
                      <a:srgbClr val="E0F2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D7A72"/>
                          </a:solidFill>
                          <a:latin typeface="Calibri"/>
                        </a:rPr>
                        <a:t>1.33×</a:t>
                      </a:r>
                    </a:p>
                  </a:txBody>
                  <a:tcPr>
                    <a:solidFill>
                      <a:srgbClr val="E0F2EE"/>
                    </a:solidFill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457200" y="45720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D7A72"/>
                </a:solidFill>
                <a:latin typeface="Calibri"/>
              </a:rPr>
              <a:t>✓  Confirmed across n=3 repeats (jobs 56923894–896). Range: 1.28×–1.39×. DSC Δ ≤ +0.0004 across all runs — accuracy stable.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28600"/>
            <a:ext cx="54864" cy="508000"/>
          </a:xfrm>
          <a:prstGeom prst="rect">
            <a:avLst/>
          </a:prstGeom>
          <a:solidFill>
            <a:srgbClr val="1D7A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371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F1C2E"/>
                </a:solidFill>
                <a:latin typeface="Calibri"/>
              </a:rPr>
              <a:t>nnInteractive — Accuracy Verification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137160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A6478"/>
                </a:solidFill>
                <a:latin typeface="Calibri"/>
              </a:rPr>
              <a:t>10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2296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A6478"/>
                </a:solidFill>
                <a:latin typeface="Calibri"/>
              </a:rPr>
              <a:t>Same job as latency (56908464) — speed and accuracy measured under identical conditions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3444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D7A72"/>
                </a:solidFill>
                <a:latin typeface="Calibri"/>
              </a:rPr>
              <a:t>Experimental setup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600200"/>
            <a:ext cx="5669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C2E"/>
                </a:solidFill>
                <a:latin typeface="Calibri"/>
              </a:rPr>
              <a:t>·  20 CT cases from CVPR 2025 validation set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984248"/>
            <a:ext cx="5669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C2E"/>
                </a:solidFill>
                <a:latin typeface="Calibri"/>
              </a:rPr>
              <a:t>·  294 objects evaluated (bbox-prompted)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368296"/>
            <a:ext cx="5669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C2E"/>
                </a:solidFill>
                <a:latin typeface="Calibri"/>
              </a:rPr>
              <a:t>·  fold='all' checkpoint — same as 0.7794 CodaBench submission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752344"/>
            <a:ext cx="5669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C2E"/>
                </a:solidFill>
                <a:latin typeface="Calibri"/>
              </a:rPr>
              <a:t>·  Ground truth evaluated locally against expert annotations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136391"/>
            <a:ext cx="5669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C2E"/>
                </a:solidFill>
                <a:latin typeface="Calibri"/>
              </a:rPr>
              <a:t>·  Baseline and compiled run back-to-back — no config differences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65760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D7A72"/>
                </a:solidFill>
                <a:latin typeface="Calibri"/>
              </a:rPr>
              <a:t>DSC results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457200" y="4023360"/>
          <a:ext cx="594360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1200"/>
                <a:gridCol w="1981200"/>
                <a:gridCol w="1981200"/>
              </a:tblGrid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Setting</a:t>
                      </a:r>
                    </a:p>
                  </a:txBody>
                  <a:tcPr>
                    <a:solidFill>
                      <a:srgbClr val="0F1C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Mean DSC</a:t>
                      </a:r>
                    </a:p>
                  </a:txBody>
                  <a:tcPr>
                    <a:solidFill>
                      <a:srgbClr val="0F1C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Objects</a:t>
                      </a:r>
                    </a:p>
                  </a:txBody>
                  <a:tcPr>
                    <a:solidFill>
                      <a:srgbClr val="0F1C2E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Baseline (fold='all')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0.7914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294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torch.compile (fold='all')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0.7916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294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A6A30"/>
                          </a:solidFill>
                          <a:latin typeface="Calibri"/>
                        </a:rPr>
                        <a:t>Difference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A6A30"/>
                          </a:solidFill>
                          <a:latin typeface="Calibri"/>
                        </a:rPr>
                        <a:t>+0.0002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A6A3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</a:tr>
            </a:tbl>
          </a:graphicData>
        </a:graphic>
      </p:graphicFrame>
      <p:sp>
        <p:nvSpPr>
          <p:cNvPr id="14" name="Rectangle 13"/>
          <p:cNvSpPr/>
          <p:nvPr/>
        </p:nvSpPr>
        <p:spPr>
          <a:xfrm>
            <a:off x="7315200" y="1280160"/>
            <a:ext cx="4389120" cy="4389120"/>
          </a:xfrm>
          <a:prstGeom prst="rect">
            <a:avLst/>
          </a:prstGeom>
          <a:solidFill>
            <a:srgbClr val="E0F2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98079" y="1463040"/>
            <a:ext cx="4023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1D7A72"/>
                </a:solidFill>
                <a:latin typeface="Calibri"/>
              </a:rPr>
              <a:t>DSC Change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79" y="1920240"/>
            <a:ext cx="4023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400" b="1" i="0">
                <a:solidFill>
                  <a:srgbClr val="1D7A72"/>
                </a:solidFill>
                <a:latin typeface="Calibri"/>
              </a:rPr>
              <a:t>+0.0002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79" y="2926080"/>
            <a:ext cx="402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5A6478"/>
                </a:solidFill>
                <a:latin typeface="Calibri"/>
              </a:rPr>
              <a:t>Well below 0.005 threshold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589520" y="3429000"/>
            <a:ext cx="3840480" cy="25400"/>
          </a:xfrm>
          <a:prstGeom prst="rect">
            <a:avLst/>
          </a:prstGeom>
          <a:solidFill>
            <a:srgbClr val="1D7A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98079" y="3566160"/>
            <a:ext cx="4023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D7A72"/>
                </a:solidFill>
                <a:latin typeface="Calibri"/>
              </a:rPr>
              <a:t>ACCURACY MAINTAINED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79" y="3931920"/>
            <a:ext cx="4023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A6478"/>
                </a:solidFill>
                <a:latin typeface="Calibri"/>
              </a:rPr>
              <a:t>Difference within normal FP16
non-associativity noise between
Triton and cuDNN kernels.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28600"/>
            <a:ext cx="54864" cy="508000"/>
          </a:xfrm>
          <a:prstGeom prst="rect">
            <a:avLst/>
          </a:prstGeom>
          <a:solidFill>
            <a:srgbClr val="1D7A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371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F1C2E"/>
                </a:solidFill>
                <a:latin typeface="Calibri"/>
              </a:rPr>
              <a:t>nnInteractive — Cold Start &amp; Break-even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137160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A6478"/>
                </a:solidFill>
                <a:latin typeface="Calibri"/>
              </a:rPr>
              <a:t>11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2296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A6478"/>
                </a:solidFill>
                <a:latin typeface="Calibri"/>
              </a:rPr>
              <a:t>Job 56914757 · fully isolated /tmp inductor cache · all three env vars set before import torch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234440"/>
          <a:ext cx="68580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29000"/>
                <a:gridCol w="3429000"/>
              </a:tblGrid>
              <a:tr h="391885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Metric</a:t>
                      </a:r>
                    </a:p>
                  </a:txBody>
                  <a:tcPr>
                    <a:solidFill>
                      <a:srgbClr val="0F1C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>
                    <a:solidFill>
                      <a:srgbClr val="0F1C2E"/>
                    </a:solidFill>
                  </a:tcPr>
                </a:tc>
              </a:tr>
              <a:tr h="391885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Triton cold-start (run 1, job 56914757)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23.61s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</a:tr>
              <a:tr h="391885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Residual (run 2)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0.513s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1885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Fully warm mean (runs 3–6)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0.125s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</a:tr>
              <a:tr h="391885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Mean warm gain per object (n=4 jobs)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0.0706s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1885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Break-even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D7A72"/>
                          </a:solidFill>
                          <a:latin typeface="Calibri"/>
                        </a:rPr>
                        <a:t>~334 objects (~23 cases)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</a:tr>
              <a:tr h="39189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First case cold vs warm baseline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~25.4s  vs  ~4.38s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411480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D7A72"/>
                </a:solidFill>
                <a:latin typeface="Calibri"/>
              </a:rPr>
              <a:t>Break-even = 23.61s ÷ 0.0706s/object = ~334 objects = ~23 cases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57200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A6478"/>
                </a:solidFill>
                <a:latin typeface="Calibri"/>
              </a:rPr>
              <a:t>Note: /tmp is node-local fast storage. Production Triton cache on /scratch (NFS) will be higher.
23.61s is a lower bound for a from-scratch deployment.
After break-even, all subsequent objects run at 1.33×.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0" y="1920240"/>
            <a:ext cx="24688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400" b="1" i="0">
                <a:solidFill>
                  <a:srgbClr val="1D7A72"/>
                </a:solidFill>
                <a:latin typeface="Calibri"/>
              </a:rPr>
              <a:t>~23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52560" y="283464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5A6478"/>
                </a:solidFill>
                <a:latin typeface="Calibri"/>
              </a:rPr>
              <a:t>cases to break even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0" y="320040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A6478"/>
                </a:solidFill>
                <a:latin typeface="Calibri"/>
              </a:rPr>
              <a:t>(~334 objects)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28600"/>
            <a:ext cx="54864" cy="508000"/>
          </a:xfrm>
          <a:prstGeom prst="rect">
            <a:avLst/>
          </a:prstGeom>
          <a:solidFill>
            <a:srgbClr val="0F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371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F1C2E"/>
                </a:solidFill>
                <a:latin typeface="Calibri"/>
              </a:rPr>
              <a:t>Summary of All Optimizations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137160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A6478"/>
                </a:solidFill>
                <a:latin typeface="Calibri"/>
              </a:rPr>
              <a:t>12 / 12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777240"/>
          <a:ext cx="1124712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9424"/>
                <a:gridCol w="2249424"/>
                <a:gridCol w="2249424"/>
                <a:gridCol w="2249424"/>
                <a:gridCol w="2249424"/>
              </a:tblGrid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Model</a:t>
                      </a:r>
                    </a:p>
                  </a:txBody>
                  <a:tcPr>
                    <a:solidFill>
                      <a:srgbClr val="0F1C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Optimization</a:t>
                      </a:r>
                    </a:p>
                  </a:txBody>
                  <a:tcPr>
                    <a:solidFill>
                      <a:srgbClr val="0F1C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Method</a:t>
                      </a:r>
                    </a:p>
                  </a:txBody>
                  <a:tcPr>
                    <a:solidFill>
                      <a:srgbClr val="0F1C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Speedup</a:t>
                      </a:r>
                    </a:p>
                  </a:txBody>
                  <a:tcPr>
                    <a:solidFill>
                      <a:srgbClr val="0F1C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DSC impact</a:t>
                      </a:r>
                    </a:p>
                  </a:txBody>
                  <a:tcPr>
                    <a:solidFill>
                      <a:srgbClr val="0F1C2E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latin typeface="Calibri"/>
                        </a:rPr>
                        <a:t>VoxTell</a:t>
                      </a:r>
                    </a:p>
                  </a:txBody>
                  <a:tcPr>
                    <a:solidFill>
                      <a:srgbClr val="FDF5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latin typeface="Calibri"/>
                        </a:rPr>
                        <a:t>BUG FIX: FP16 GPU placement</a:t>
                      </a:r>
                    </a:p>
                  </a:txBody>
                  <a:tcPr>
                    <a:solidFill>
                      <a:srgbClr val="FDF5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latin typeface="Calibri"/>
                        </a:rPr>
                        <a:t>dtype=torch.float16 on Qwen3</a:t>
                      </a:r>
                    </a:p>
                  </a:txBody>
                  <a:tcPr>
                    <a:solidFill>
                      <a:srgbClr val="FDF5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C8912B"/>
                          </a:solidFill>
                          <a:latin typeface="Calibri"/>
                        </a:rPr>
                        <a:t>46.7× text</a:t>
                      </a:r>
                    </a:p>
                  </a:txBody>
                  <a:tcPr>
                    <a:solidFill>
                      <a:srgbClr val="FDF5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latin typeface="Calibri"/>
                        </a:rPr>
                        <a:t>&lt; 0.001</a:t>
                      </a:r>
                    </a:p>
                  </a:txBody>
                  <a:tcPr>
                    <a:solidFill>
                      <a:srgbClr val="FDF5E4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latin typeface="Calibri"/>
                        </a:rPr>
                        <a:t/>
                      </a:r>
                    </a:p>
                  </a:txBody>
                  <a:tcPr>
                    <a:solidFill>
                      <a:srgbClr val="FDF5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latin typeface="Calibri"/>
                        </a:rPr>
                        <a:t>Sliding window overlap</a:t>
                      </a:r>
                    </a:p>
                  </a:txBody>
                  <a:tcPr>
                    <a:solidFill>
                      <a:srgbClr val="FDF5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latin typeface="Calibri"/>
                        </a:rPr>
                        <a:t>tile_step 0.5 → 0.75</a:t>
                      </a:r>
                    </a:p>
                  </a:txBody>
                  <a:tcPr>
                    <a:solidFill>
                      <a:srgbClr val="FDF5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C8912B"/>
                          </a:solidFill>
                          <a:latin typeface="Calibri"/>
                        </a:rPr>
                        <a:t>3.6× window</a:t>
                      </a:r>
                    </a:p>
                  </a:txBody>
                  <a:tcPr>
                    <a:solidFill>
                      <a:srgbClr val="FDF5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latin typeface="Calibri"/>
                        </a:rPr>
                        <a:t>+0.0006</a:t>
                      </a:r>
                    </a:p>
                  </a:txBody>
                  <a:tcPr>
                    <a:solidFill>
                      <a:srgbClr val="FDF5E4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latin typeface="Calibri"/>
                        </a:rPr>
                        <a:t/>
                      </a:r>
                    </a:p>
                  </a:txBody>
                  <a:tcPr>
                    <a:solidFill>
                      <a:srgbClr val="FDF5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latin typeface="Calibri"/>
                        </a:rPr>
                        <a:t>Embedding cache</a:t>
                      </a:r>
                    </a:p>
                  </a:txBody>
                  <a:tcPr>
                    <a:solidFill>
                      <a:srgbClr val="FDF5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latin typeface="Calibri"/>
                        </a:rPr>
                        <a:t>LRU memory + SHA-256 disk</a:t>
                      </a:r>
                    </a:p>
                  </a:txBody>
                  <a:tcPr>
                    <a:solidFill>
                      <a:srgbClr val="FDF5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C8912B"/>
                          </a:solidFill>
                          <a:latin typeface="Calibri"/>
                        </a:rPr>
                        <a:t>18.7× warm</a:t>
                      </a:r>
                    </a:p>
                  </a:txBody>
                  <a:tcPr>
                    <a:solidFill>
                      <a:srgbClr val="FDF5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latin typeface="Calibri"/>
                        </a:rPr>
                        <a:t>Identical</a:t>
                      </a:r>
                    </a:p>
                  </a:txBody>
                  <a:tcPr>
                    <a:solidFill>
                      <a:srgbClr val="FDF5E4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latin typeface="Calibri"/>
                        </a:rPr>
                        <a:t/>
                      </a:r>
                    </a:p>
                  </a:txBody>
                  <a:tcPr>
                    <a:solidFill>
                      <a:srgbClr val="FDF5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latin typeface="Calibri"/>
                        </a:rPr>
                        <a:t>Numba preprocessing</a:t>
                      </a:r>
                    </a:p>
                  </a:txBody>
                  <a:tcPr>
                    <a:solidFill>
                      <a:srgbClr val="FDF5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latin typeface="Calibri"/>
                        </a:rPr>
                        <a:t>@njit(parallel=True)</a:t>
                      </a:r>
                    </a:p>
                  </a:txBody>
                  <a:tcPr>
                    <a:solidFill>
                      <a:srgbClr val="FDF5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C8912B"/>
                          </a:solidFill>
                          <a:latin typeface="Calibri"/>
                        </a:rPr>
                        <a:t>1.4× preprocess</a:t>
                      </a:r>
                    </a:p>
                  </a:txBody>
                  <a:tcPr>
                    <a:solidFill>
                      <a:srgbClr val="FDF5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latin typeface="Calibri"/>
                        </a:rPr>
                        <a:t>Unchanged</a:t>
                      </a:r>
                    </a:p>
                  </a:txBody>
                  <a:tcPr>
                    <a:solidFill>
                      <a:srgbClr val="FDF5E4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latin typeface="Calibri"/>
                        </a:rPr>
                        <a:t>nnInteractive</a:t>
                      </a:r>
                    </a:p>
                  </a:txBody>
                  <a:tcPr>
                    <a:solidFill>
                      <a:srgbClr val="E0F2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latin typeface="Calibri"/>
                        </a:rPr>
                        <a:t>torch.compile</a:t>
                      </a:r>
                    </a:p>
                  </a:txBody>
                  <a:tcPr>
                    <a:solidFill>
                      <a:srgbClr val="E0F2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latin typeface="Calibri"/>
                        </a:rPr>
                        <a:t>compile(network, mode='reduce-overhead')</a:t>
                      </a:r>
                    </a:p>
                  </a:txBody>
                  <a:tcPr>
                    <a:solidFill>
                      <a:srgbClr val="E0F2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D7A72"/>
                          </a:solidFill>
                          <a:latin typeface="Calibri"/>
                        </a:rPr>
                        <a:t>1.33× / object (n=3)</a:t>
                      </a:r>
                    </a:p>
                  </a:txBody>
                  <a:tcPr>
                    <a:solidFill>
                      <a:srgbClr val="E0F2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latin typeface="Calibri"/>
                        </a:rPr>
                        <a:t>+0.0002</a:t>
                      </a:r>
                    </a:p>
                  </a:txBody>
                  <a:tcPr>
                    <a:solidFill>
                      <a:srgbClr val="E0F2EE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3977639"/>
            <a:ext cx="6400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8912B"/>
                </a:solidFill>
                <a:latin typeface="Calibri"/>
              </a:rPr>
              <a:t>VoxTell — fair GPU-vs-GPU benchmark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29768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C2E"/>
                </a:solidFill>
                <a:latin typeface="Calibri"/>
              </a:rPr>
              <a:t>RTX 4070 SUPER: 3.10s → 2.38s (1.3× algorithmic gain, excl. bug fix).  H100 MIG 3g.40gb (job 56948503): 13.61s → 0.77s (17.6× full-stack incl. INT4). Accuracy maintained (&lt; 0.001 DSC change across all changes).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892040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D7A72"/>
                </a:solidFill>
                <a:latin typeface="Calibri"/>
              </a:rPr>
              <a:t>nnInteractive (H100 MIG 3g.40gb, Fir cluster, job 56908464)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21208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C2E"/>
                </a:solidFill>
                <a:latin typeface="Calibri"/>
              </a:rPr>
              <a:t>0.288s → 0.215s per object. Mean speedup 1.33× (n=3: 1.28–1.39×). DSC Δ ≤ +0.0004. Speed and accuracy from same job, same config. Break-even ~69 cases (/scratch).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