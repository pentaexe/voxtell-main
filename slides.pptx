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8912B"/>
                </a:solidFill>
                <a:latin typeface="Calibri"/>
              </a:rPr>
              <a:t>CVPR 2025  ·  MEDICAL IMAGE SEGMENTATION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2EFE8"/>
                </a:solidFill>
                <a:latin typeface="Calibri"/>
              </a:rPr>
              <a:t>VoxTell &amp; nnInteractive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B0BCC8"/>
                </a:solidFill>
                <a:latin typeface="Calibri"/>
              </a:rPr>
              <a:t>Optimization on NVIDIA H100 MIG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00400"/>
            <a:ext cx="548640" cy="762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383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08090"/>
                </a:solidFill>
                <a:latin typeface="Calibri"/>
              </a:rPr>
              <a:t>torch.compile  ·  Embedding Cache  ·  Sliding Window  ·  Numba Preprocessing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Brian Xiao  ·  rrg-jma  ·  Fir cluster (Alliance Canada)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Brian Xiao  ·  Aug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What is Medical Image Segmentation?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1C2E"/>
                </a:solidFill>
                <a:latin typeface="Calibri"/>
              </a:rPr>
              <a:t>A CT or MRI scan is a 3-D volume of voxels. A segmentation model draws a precise 3-D boundary around each organ or lesion — producing a binary mask the radiologist or downstream algorithm can act 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860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Accuracy Metric — DSC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C2E"/>
                </a:solidFill>
                <a:latin typeface="Calibri"/>
              </a:rPr>
              <a:t>Dice Similarity Coefficient (DSC) = 2|A∩B| / (|A|+|B|)
  0 = no overlap     1 = perfect
  &gt; 0.70 = clinically acceptable
  Our results: ~0.79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Why Speed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C2E"/>
                </a:solidFill>
                <a:latin typeface="Calibri"/>
              </a:rPr>
              <a:t>A hospital CT pipeline may process hundreds of cases per day. Each case has 10–20 objects to segment. Every millisecond saved per object compounds across the full workload.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8229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The Two Models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234440"/>
            <a:ext cx="5303520" cy="1737360"/>
          </a:xfrm>
          <a:prstGeom prst="rect">
            <a:avLst/>
          </a:prstGeom>
          <a:solidFill>
            <a:srgbClr val="F0E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325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12B"/>
                </a:solidFill>
                <a:latin typeface="Calibri"/>
              </a:rPr>
              <a:t>VoxTell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69164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Lab's CVPR submission
Text-prompt segmentation (Qwen3 LLM)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3317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12B"/>
                </a:solidFill>
                <a:latin typeface="Calibri"/>
              </a:rPr>
              <a:t>3.27s → 1.28s  (CT, H100)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337560"/>
            <a:ext cx="5303520" cy="1737360"/>
          </a:xfrm>
          <a:prstGeom prst="rect">
            <a:avLst/>
          </a:prstGeom>
          <a:solidFill>
            <a:srgbClr val="F0E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4290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D7A72"/>
                </a:solidFill>
                <a:latin typeface="Calibri"/>
              </a:rPr>
              <a:t>nnInteractive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79476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CVPR 2025 challenge baseline
Bbox-prompt interactive segmentation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4348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7A72"/>
                </a:solidFill>
                <a:latin typeface="Calibri"/>
              </a:rPr>
              <a:t>0.288s → 0.215s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VoxTell — Why the Original 26× Was Wrong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Hardware: NVIDIA GeForce RTX 4070 SUPER (12 GB GDDR6X)  ·  v0_gpu: Qwen3-4B + nnUNet 3D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7772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Latency (v0_gpu, RTX 4070 SUPER)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C8912B"/>
                          </a:solidFill>
                          <a:latin typeface="Calibri"/>
                        </a:rPr>
                        <a:t>Text encoding — harness loaded FP32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latin typeface="Calibri"/>
                        </a:rPr>
                        <a:t>~2.7s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A6478"/>
                          </a:solidFill>
                          <a:latin typeface="Calibri"/>
                        </a:rPr>
                        <a:t>Benchmark bug: FP32 overflowed 12 GB → CPU. Model code was never FP32.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Image preprocessing (numpy)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latin typeface="Calibri"/>
                        </a:rPr>
                        <a:t>~0.23s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A6478"/>
                          </a:solidFill>
                          <a:latin typeface="Calibri"/>
                        </a:rPr>
                        <a:t>Crop, z-score normalize, patch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Sliding window inference (GPU, warm)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latin typeface="Calibri"/>
                        </a:rPr>
                        <a:t>~0.17s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A6478"/>
                          </a:solidFill>
                          <a:latin typeface="Calibri"/>
                        </a:rPr>
                        <a:t>tile_step=0.5, 4 patches on this volume, FP16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154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12B"/>
                </a:solidFill>
                <a:latin typeface="Calibri"/>
              </a:rPr>
              <a:t>Total: ~3.10s per prompt  —  dominated by text encoder running on CPU (silent bug)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11880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Root cause — in the BENCHMARK, not the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931920"/>
            <a:ext cx="6583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The baseline harness loaded Qwen3-4B in FP32 (~16 GB) on a 12 GB card, so PyTorch silently ran the encoder on CPU. VoxTell itself has always loaded FP16 or INT4 — there is no FP32 path in the model code. This inflated the baseline, not the model.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02920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Why this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492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Correcting it is a measurement fix, not an optimization — so it earns no row in the speedup table. A correctly measured RTX baseline is 2.2s, not 3.10s.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3566160"/>
            <a:ext cx="2743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8912B"/>
                </a:solidFill>
                <a:latin typeface="Calibri"/>
              </a:rPr>
              <a:t>3.10s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4343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mis-measured baseline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VoxTell — Bug Fix + Three Algorithmic Optimizations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All measurements on NVIDIA GeForce RTX 4070 SUPER (12 GB)  ·  DSC from experiment_log.md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9728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Speedup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DSC change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Sliding window overlap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tile_step 0.75 + crop-to-nonzero  (25 → 9 patches on CT)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D7A72"/>
                          </a:solidFill>
                          <a:latin typeface="Calibri"/>
                        </a:rPr>
                        <a:t>2.9× sliding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6A30"/>
                          </a:solidFill>
                          <a:latin typeface="Calibri"/>
                        </a:rPr>
                        <a:t>+0.0006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Embedding cache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LRU memory + SHA-256 disk cache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D7A72"/>
                          </a:solidFill>
                          <a:latin typeface="Calibri"/>
                        </a:rPr>
                        <a:t>29× warm re-query (CT)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6A30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Numba preprocessing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@njit(parallel=True) crop + z-score normalize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D7A72"/>
                          </a:solidFill>
                          <a:latin typeface="Calibri"/>
                        </a:rPr>
                        <a:t>no gain measured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6A30"/>
                          </a:solidFill>
                          <a:latin typeface="Calibri"/>
                        </a:rPr>
                        <a:t>Unchanged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INT4 (NF4) quantization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bitsandbytes NF4 on Qwen3: ~2GB vs ~8GB FP16 VRAM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D7A72"/>
                          </a:solidFill>
                          <a:latin typeface="Calibri"/>
                        </a:rPr>
                        <a:t>1.5× text fwd pass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6A30"/>
                          </a:solidFill>
                          <a:latin typeface="Calibri"/>
                        </a:rPr>
                        <a:t>DSC 0.97 agree, −5.5% vox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480560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Precision-matched GPU-vs-GPU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006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C2E"/>
                </a:solidFill>
                <a:latin typeface="Calibri"/>
              </a:rPr>
              <a:t>H100 MIG, abdominal CT (job 56964411):  v0_gpu 3.27s → v3 1.28s  =  2.6× algorithmic gain
H100 MIG, MNI brain (job 56964410):  1.0× — volume too small for tile_step or Numba to act
RTX 4070 SUPER, MNI brain (n=5):  1.7× (range 1.6–1.8×)
Both arms INT4 (NF4); GPU, text backbone and sliding-window path pre-warmed; embed cache verified cold.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VoxTell — Accuracy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6478"/>
                </a:solidFill>
                <a:latin typeface="Calibri"/>
              </a:rPr>
              <a:t>All optimizations preserve segmentation quality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80160"/>
          <a:ext cx="8229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 DSC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vs Baseline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Baseline v0_gpu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0.7794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+ FP16 GPU placement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0.7795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6A30"/>
                          </a:solidFill>
                          <a:latin typeface="Calibri"/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+ Sliding window (0.75)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0.7800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6A30"/>
                          </a:solidFill>
                          <a:latin typeface="Calibri"/>
                        </a:rPr>
                        <a:t>+0.0006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+ Embedding cache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Identical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961120" y="1280160"/>
            <a:ext cx="2743200" cy="2560320"/>
          </a:xfrm>
          <a:prstGeom prst="rect">
            <a:avLst/>
          </a:prstGeom>
          <a:solidFill>
            <a:srgbClr val="E8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14630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D7A72"/>
                </a:solidFill>
                <a:latin typeface="Calibri"/>
              </a:rPr>
              <a:t>DSC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187451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D7A72"/>
                </a:solidFill>
                <a:latin typeface="Calibri"/>
              </a:rPr>
              <a:t>&lt; 0.001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6060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D7A72"/>
                </a:solidFill>
                <a:latin typeface="Calibri"/>
              </a:rPr>
              <a:t>ACCURACY MAINTAINED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9260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n = 294 objects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114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478"/>
                </a:solidFill>
                <a:latin typeface="Calibri"/>
              </a:rPr>
              <a:t>No pass/fail threshold applied — the measured delta and its sample size are reported as-is.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A6478"/>
                </a:solidFill>
                <a:latin typeface="Calibri"/>
              </a:rPr>
              <a:t>CVPR 2025 challenge baseline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36576" cy="762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7A72"/>
                </a:solidFill>
                <a:latin typeface="Calibri"/>
              </a:rPr>
              <a:t>Bbox prompting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User provides a 3-D bounding box around the target object. nnInteractive predicts the segmentation mask inside that box. No text encoder — direct geometric prompt.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97480"/>
            <a:ext cx="36576" cy="762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7432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7A72"/>
                </a:solidFill>
                <a:latin typeface="Calibri"/>
              </a:rPr>
              <a:t>autozoom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0896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Iterative refinement at multiple scales. If the initial prediction is confident, it exits early ("No zoom out necessary"). On this CVPR validation set, autozoom never fired — overhead is approximately zero.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206240"/>
            <a:ext cx="36576" cy="762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2519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12B"/>
                </a:solidFill>
                <a:latin typeface="Calibri"/>
              </a:rPr>
              <a:t>fold='all' checkpoint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61772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The official CVPR 2025 checkpoint (DSC ~0.79). fold=0 gives ~0.33 DSC — undertrained weights; never compare against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822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Why nnInteractive is faster than VoxTell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123444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VoxTell accepts free-text prompts ("brain", "left kidney") — each requires a Qwen3-4B text encoder forward pass even with FP16 on GPU.
nnInteractive accepts a 3-D bounding box directly — no text encoder, the encoder cost is zero. Geometric prompts are sufficient for the CVPR challenge format.
A direct per-prompt latency comparison requires both models on the same hardware AND the same data. VoxTell H100 on abdominal CT (job 56964411): v0_gpu 3.27s → v3 1.28s = 2.6× algorithmic gain, both arms INT4.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Baseline Profiling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478"/>
                </a:solidFill>
                <a:latin typeface="Calibri"/>
              </a:rPr>
              <a:t>fold='all', do_autozoom=True, torch_n_threads=os.cpu_count(), H100 MIG 3g.40gb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6858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</a:tblGrid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Latency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Frequency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set_image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0.345s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5A6478"/>
                          </a:solidFill>
                          <a:latin typeface="Calibri"/>
                        </a:rPr>
                        <a:t>Once per case — image encoding + preprocessing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_predict (cold, first call)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~2.4s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5A6478"/>
                          </a:solidFill>
                          <a:latin typeface="Calibri"/>
                        </a:rPr>
                        <a:t>CUDA kernel JIT — one-time per session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_predict (warm)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0.288s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5A6478"/>
                          </a:solidFill>
                          <a:latin typeface="Calibri"/>
                        </a:rPr>
                        <a:t>Per object ← optimization target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246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C2E"/>
                </a:solidFill>
                <a:latin typeface="Calibri"/>
              </a:rPr>
              <a:t>A 15-object case: 0.345s set_image + 15 × 0.288s = 4.66s total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576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478"/>
                </a:solidFill>
                <a:latin typeface="Calibri"/>
              </a:rPr>
              <a:t>_predict warm is the bottleneck — set_image is &lt; 8% of case 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92608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1D7A72"/>
                </a:solidFill>
                <a:latin typeface="Calibri"/>
              </a:rPr>
              <a:t>0.288s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3703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per object (warm baseline)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torch.compile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Implementation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5303520" cy="77724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18872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DC4BC"/>
                </a:solidFill>
                <a:latin typeface="Calibri"/>
              </a:rPr>
              <a:t># One line after session initialization
session.network = torch.compile(
    session.network, mode='reduce-overhead'
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How it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PyTorch normally interprets the model graph in Python on every forward pass. torch.compile traces the graph and emits optimized Triton GPU kernels via the inductor backend. With mode='reduce-overhead', CUDA graphs eliminate CPU→GPU launch latency on repeated calls with identical input shapes — exactly the nnInteractive inference pattern.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8229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Key requirements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34440"/>
            <a:ext cx="36576" cy="635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27101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7A72"/>
                </a:solidFill>
                <a:latin typeface="Calibri"/>
              </a:rPr>
              <a:t>N_WARMUP =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64592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C2E"/>
                </a:solidFill>
                <a:latin typeface="Calibri"/>
              </a:rPr>
              <a:t>Warmup 1 triggers Triton compilation (~24s). Warmup 2 stabilizes dispatch (~0.51s). Runs 3+ are fully warm. With N_WARMUP=1, compiled latency reads ~0.54s and speedup ≈ 1.0×.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2697480"/>
            <a:ext cx="36576" cy="635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73405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7A72"/>
                </a:solidFill>
                <a:latin typeface="Calibri"/>
              </a:rPr>
              <a:t>Env vars before import torch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10896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C2E"/>
                </a:solidFill>
                <a:latin typeface="Calibri"/>
              </a:rPr>
              <a:t>TORCHINDUCTOR_CACHE_DIR is read at import time, not at compile time. Set XDG_CACHE_HOME, TORCH_HOME, and TORCHINDUCTOR_CACHE_DIR before any torch import.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4160520"/>
            <a:ext cx="36576" cy="635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419709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7A72"/>
                </a:solidFill>
                <a:latin typeface="Calibri"/>
              </a:rPr>
              <a:t>fold='all' required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57200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C2E"/>
                </a:solidFill>
                <a:latin typeface="Calibri"/>
              </a:rPr>
              <a:t>The official checkpoint (DSC ~0.79). fold=0 gives ~0.33 DSC — not a valid comparison baseline.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Speedup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Jobs 56923894–896 (repeats) + 56908464 — n=4 total · fold='all', autozoom=ON · 20 CT cases · 294 objects · H100 MIG 3g.40gb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D7A72"/>
                </a:solidFill>
                <a:latin typeface="Calibri"/>
              </a:rPr>
              <a:t>1.33×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per-object speedup
(n=4: 1.28–1.39×)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23444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5A6478"/>
                </a:solidFill>
                <a:latin typeface="Calibri"/>
              </a:rPr>
              <a:t>0.288s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0116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baseline _predict
(no compile)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23444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D7A72"/>
                </a:solidFill>
                <a:latin typeface="Calibri"/>
              </a:rPr>
              <a:t>0.215s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compiled _predict
(fully warm)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123444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D7A72"/>
                </a:solidFill>
                <a:latin typeface="Calibri"/>
              </a:rPr>
              <a:t>1.33×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20116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case-level speedup
(~15-object case)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274320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set_image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_predict (warm)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~15-obj case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Baseline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Baseline (fold='all', autozoom=ON)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0.345s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0.288s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4.38s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1.0×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torch.compile (fold='all', autozoom=ON)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0.345s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0.215s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3.30s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1.33×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45720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D7A72"/>
                </a:solidFill>
                <a:latin typeface="Calibri"/>
              </a:rPr>
              <a:t>✓  Confirmed across n=4 runs (56908464, 56923894–896). Range: 1.28×–1.39×. DSC Δ ≤ +0.0004 across all runs — accuracy stable.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Accuracy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478"/>
                </a:solidFill>
                <a:latin typeface="Calibri"/>
              </a:rPr>
              <a:t>Same job as latency (56908464) — speed and accuracy measured under identical conditions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Experimental setup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20 CT cases from CVPR 2025 validation 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84248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294 objects evaluated (bbox-prompted)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68296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fold='all' checkpoint — same as 0.7794 CodaBench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52344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Ground truth evaluated locally against expert annotations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36391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Baseline and compiled run back-to-back — no config differences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57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DSC results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4023360"/>
          <a:ext cx="5943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200"/>
                <a:gridCol w="1981200"/>
                <a:gridCol w="198120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Mean DSC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Objects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Baseline (fold='all')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0.7914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294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torch.compile (fold='all')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0.7916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294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6A30"/>
                          </a:solidFill>
                          <a:latin typeface="Calibri"/>
                        </a:rPr>
                        <a:t>Difference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6A30"/>
                          </a:solidFill>
                          <a:latin typeface="Calibri"/>
                        </a:rPr>
                        <a:t>+0.0002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6A3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315200" y="1280160"/>
            <a:ext cx="4389120" cy="4389120"/>
          </a:xfrm>
          <a:prstGeom prst="rect">
            <a:avLst/>
          </a:prstGeom>
          <a:solidFill>
            <a:srgbClr val="E0F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79" y="146304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D7A72"/>
                </a:solidFill>
                <a:latin typeface="Calibri"/>
              </a:rPr>
              <a:t>DSC Change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192024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1D7A72"/>
                </a:solidFill>
                <a:latin typeface="Calibri"/>
              </a:rPr>
              <a:t>+0.0002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9260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4 runs, Δ +0.0000 to +0.0004 — none negative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89520" y="3429000"/>
            <a:ext cx="3840480" cy="254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79" y="356616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D7A72"/>
                </a:solidFill>
                <a:latin typeface="Calibri"/>
              </a:rPr>
              <a:t>NO DEGRADATION ACROSS 4 RUNS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3931920"/>
            <a:ext cx="4023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Difference within normal FP16
non-associativity noise between
Triton and cuDNN kernels.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Cold Start &amp; Break-even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Job 56914757 · fully isolated /tmp inductor cache · all three env vars set before import torch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6858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3429000"/>
              </a:tblGrid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Triton cold-start (run 1, job 56914757)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23.61s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Residual (run 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0.513s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Fully warm mean (runs 3–6)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0.125s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Mean warm gain per object (n=4 jobs)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0.0714s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Break-even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~331 objects (~22 cases)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39189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First case cold vs warm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~25.4s  vs  ~4.38s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7A72"/>
                </a:solidFill>
                <a:latin typeface="Calibri"/>
              </a:rPr>
              <a:t>Break-even = 23.61s ÷ 0.0714s/object = ~331 objects = ~22 cases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72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Note: /tmp is node-local fast storage. Production Triton cache on /scratch (NFS) will be higher.
23.61s is a lower bound for a from-scratch deployment.
After break-even, all subsequent objects run at 1.33×.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192024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1D7A72"/>
                </a:solidFill>
                <a:latin typeface="Calibri"/>
              </a:rPr>
              <a:t>~23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28346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A6478"/>
                </a:solidFill>
                <a:latin typeface="Calibri"/>
              </a:rPr>
              <a:t>cases to break even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32004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(~331 objects)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Summary of All Optimizations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12 / 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112471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Optimization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Speedup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DSC impact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VoxTell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Sliding window + crop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tile_step 0.75, crop-to-nonzero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2.9× window (CT)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+0.0006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Embedding cache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LRU memory + SHA-256 disk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29× warm (CT)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Identical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INT4 (NF4) text backbone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bitsandbytes, ~2 GB vs ~8 GB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1.5× fwd pass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DSC 0.97, −5.5% vox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Numba preprocessing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@njit(parallel=True)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no gain measured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Unchanged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nnInteractive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torch.compile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compile(network, mode='reduce-overhead')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D7A72"/>
                          </a:solidFill>
                          <a:latin typeface="Calibri"/>
                        </a:rPr>
                        <a:t>1.33× / object (n=4)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+0.0002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977639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VoxTell — precision-matched GPU-vs-GPU benchmark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97680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C2E"/>
                </a:solidFill>
                <a:latin typeface="Calibri"/>
              </a:rPr>
              <a:t>H100 MIG, abdominal CT (job 56964411): 3.27s → 1.28s = 2.6× algorithmic, both arms INT4.  RTX 4070 SUPER, MNI brain (n=5): 1.7× (1.6–1.8×).  H100 on the same brain: 1.0×.
INT4 vs FP16 on one CT case: DSC 0.97 agreement, INT4 under-segments by 5.5% — not measured on the full set.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92040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nnInteractive (H100 MIG 3g.40gb, Fir cluster, job 56908464)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2120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0.288s → 0.215s per object. Mean speedup 1.33× (n=4: 1.28–1.39×). DSC Δ ≤ +0.0004. Speed and accuracy from same job, same config. Break-even ~69 cases (/scratch).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